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331720"/>
            <a:ext cx="12191695" cy="2286000"/>
          </a:xfrm>
          <a:prstGeom prst="roundRect">
            <a:avLst/>
          </a:prstGeom>
          <a:solidFill>
            <a:srgbClr val="18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WGSpipeline → Nextflow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D5E2F0"/>
                </a:solidFill>
                <a:latin typeface="Arial"/>
              </a:rPr>
              <a:t>A 1:1 migration of a bacterial whole-genome-sequencing + genome-scale metabolic-modeling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9FC8DD"/>
                </a:solidFill>
                <a:latin typeface="Arial"/>
              </a:rPr>
              <a:t>Snakemake → Nextflow DSL2  ·  conda backend  ·  byte-identical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Arial"/>
              </a:rPr>
              <a:t>WGSpipeline-nextflow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82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9FB8D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Bacterial WGS + metabolic-modeling pipeline: raw reads → QC → de novo assembly → annotation → genome-scale metabolic model (GEM) → QC report.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Original implementation: a single Snakemake file driving 10 rules, conda-managed environments, macOS/arm64 workarounds baked in.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86AB"/>
                </a:solidFill>
                <a:latin typeface="Arial"/>
              </a:rPr>
              <a:t>•  </a:t>
            </a:r>
            <a:r>
              <a:rPr sz="1500" b="1" i="0">
                <a:solidFill>
                  <a:srgbClr val="21252B"/>
                </a:solidFill>
                <a:latin typeface="Arial"/>
              </a:rPr>
              <a:t>Migration goal — strict parity, not a rewrite: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A6472"/>
                </a:solidFill>
                <a:latin typeface="Arial"/>
              </a:rPr>
              <a:t>•  </a:t>
            </a:r>
            <a:r>
              <a:rPr sz="1500" b="0" i="0">
                <a:solidFill>
                  <a:srgbClr val="5A6472"/>
                </a:solidFill>
                <a:latin typeface="Arial"/>
              </a:rPr>
              <a:t>Functional 1:1 equivalence across all 10 steps and the output directory tree.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A6472"/>
                </a:solidFill>
                <a:latin typeface="Arial"/>
              </a:rPr>
              <a:t>•  </a:t>
            </a:r>
            <a:r>
              <a:rPr sz="1500" b="0" i="0">
                <a:solidFill>
                  <a:srgbClr val="5A6472"/>
                </a:solidFill>
                <a:latin typeface="Arial"/>
              </a:rPr>
              <a:t>Zero-change reuse of the 8 conda env YAMLs, helper scripts, and MultiQC config (byte-identical copies).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A6472"/>
                </a:solidFill>
                <a:latin typeface="Arial"/>
              </a:rPr>
              <a:t>•  </a:t>
            </a:r>
            <a:r>
              <a:rPr sz="1500" b="0" i="0">
                <a:solidFill>
                  <a:srgbClr val="5A6472"/>
                </a:solidFill>
                <a:latin typeface="Arial"/>
              </a:rPr>
              <a:t>Byte-identical outputs where the tool is deterministic (Trimmomatic, SPAdes, QUAST).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A6472"/>
                </a:solidFill>
                <a:latin typeface="Arial"/>
              </a:rPr>
              <a:t>•  </a:t>
            </a:r>
            <a:r>
              <a:rPr sz="1500" b="0" i="0">
                <a:solidFill>
                  <a:srgbClr val="5A6472"/>
                </a:solidFill>
                <a:latin typeface="Arial"/>
              </a:rPr>
              <a:t>All historical pitfalls preserved with the same countermeasures.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86A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E86AB"/>
                </a:solidFill>
                <a:latin typeface="Arial"/>
              </a:rPr>
              <a:t>Validation set: two E. coli isolates — K-12 (SRR1770413) and O157:H7 (SRR10194530).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Pipeline Overview — 10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82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9FB8D0"/>
                </a:solidFill>
                <a:latin typeface="Arial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286000" cy="658368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FastQC (raw)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234440"/>
            <a:ext cx="2286000" cy="658368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Trimmomatic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234440"/>
            <a:ext cx="2286000" cy="658368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FastQC (trimmed)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1563624"/>
            <a:ext cx="731520" cy="0"/>
          </a:xfrm>
          <a:prstGeom prst="line">
            <a:avLst/>
          </a:prstGeom>
          <a:ln w="22225">
            <a:solidFill>
              <a:srgbClr val="8A97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52160" y="1563624"/>
            <a:ext cx="731520" cy="0"/>
          </a:xfrm>
          <a:prstGeom prst="line">
            <a:avLst/>
          </a:prstGeom>
          <a:ln w="22225">
            <a:solidFill>
              <a:srgbClr val="8A97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2286000"/>
            <a:ext cx="2286000" cy="65836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SPAdes (assembly)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1892807"/>
            <a:ext cx="0" cy="393193"/>
          </a:xfrm>
          <a:prstGeom prst="line">
            <a:avLst/>
          </a:prstGeom>
          <a:ln w="22225">
            <a:solidFill>
              <a:srgbClr val="8A97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3337560"/>
            <a:ext cx="2011680" cy="6583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QUAST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337560"/>
            <a:ext cx="2011680" cy="6583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BUSCO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337560"/>
            <a:ext cx="2011680" cy="6583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BAKTA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828800" y="2944368"/>
            <a:ext cx="2880360" cy="393192"/>
          </a:xfrm>
          <a:prstGeom prst="line">
            <a:avLst/>
          </a:prstGeom>
          <a:ln w="22225">
            <a:solidFill>
              <a:srgbClr val="8A97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09160" y="2944368"/>
            <a:ext cx="274320" cy="393192"/>
          </a:xfrm>
          <a:prstGeom prst="line">
            <a:avLst/>
          </a:prstGeom>
          <a:ln w="22225">
            <a:solidFill>
              <a:srgbClr val="8A97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9160" y="2944368"/>
            <a:ext cx="3429000" cy="393192"/>
          </a:xfrm>
          <a:prstGeom prst="line">
            <a:avLst/>
          </a:prstGeom>
          <a:ln w="22225">
            <a:solidFill>
              <a:srgbClr val="8A97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32320" y="4343400"/>
            <a:ext cx="2011680" cy="658368"/>
          </a:xfrm>
          <a:prstGeom prst="round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CarveMe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5349240"/>
            <a:ext cx="2011680" cy="658368"/>
          </a:xfrm>
          <a:prstGeom prst="round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MEMOTE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38160" y="3995928"/>
            <a:ext cx="0" cy="347472"/>
          </a:xfrm>
          <a:prstGeom prst="line">
            <a:avLst/>
          </a:prstGeom>
          <a:ln w="22225">
            <a:solidFill>
              <a:srgbClr val="8A97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138160" y="5001768"/>
            <a:ext cx="0" cy="347472"/>
          </a:xfrm>
          <a:prstGeom prst="line">
            <a:avLst/>
          </a:prstGeom>
          <a:ln w="22225">
            <a:solidFill>
              <a:srgbClr val="8A97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566160" y="5806440"/>
            <a:ext cx="2286000" cy="658368"/>
          </a:xfrm>
          <a:prstGeom prst="roundRect">
            <a:avLst/>
          </a:prstGeom>
          <a:solidFill>
            <a:srgbClr val="7A2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MultiQC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064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472"/>
                </a:solidFill>
                <a:latin typeface="Arial"/>
              </a:rPr>
              <a:t>↓ report sections &amp; General Stats columns follow pipeline order (FastQC → … → MEMOTE); the full MEMOTE HTML is embedded inline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Migration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82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9FB8D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Single main.nf + nextflow.config — mirrors the original “one snakefile” convention.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conda execution backend; all 8 environment YAMLs reused byte-identical (macOS/arm64 workarounds preserved).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Path anchoring via $projectDir (the lesson of the original wfpath()).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86AB"/>
                </a:solidFill>
                <a:latin typeface="Arial"/>
              </a:rPr>
              <a:t>•  </a:t>
            </a:r>
            <a:r>
              <a:rPr sz="1500" b="1" i="0">
                <a:solidFill>
                  <a:srgbClr val="21252B"/>
                </a:solidFill>
                <a:latin typeface="Arial"/>
              </a:rPr>
              <a:t>Semantic equivalents: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A6472"/>
                </a:solidFill>
                <a:latin typeface="Arial"/>
              </a:rPr>
              <a:t>•  </a:t>
            </a:r>
            <a:r>
              <a:rPr sz="1500" b="0" i="0">
                <a:solidFill>
                  <a:srgbClr val="5A6472"/>
                </a:solidFill>
                <a:latin typeface="Arial"/>
              </a:rPr>
              <a:t>Snakemake --keep-going → process.errorStrategy = 'finish'.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A6472"/>
                </a:solidFill>
                <a:latin typeface="Arial"/>
              </a:rPr>
              <a:t>•  </a:t>
            </a:r>
            <a:r>
              <a:rPr sz="1500" b="0" i="0">
                <a:solidFill>
                  <a:srgbClr val="5A6472"/>
                </a:solidFill>
                <a:latin typeface="Arial"/>
              </a:rPr>
              <a:t>Snakemake cache → nextflow -resume (task hash cache).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A6472"/>
                </a:solidFill>
                <a:latin typeface="Arial"/>
              </a:rPr>
              <a:t>•  </a:t>
            </a:r>
            <a:r>
              <a:rPr sz="1500" b="0" i="0">
                <a:solidFill>
                  <a:srgbClr val="5A6472"/>
                </a:solidFill>
                <a:latin typeface="Arial"/>
              </a:rPr>
              <a:t>--report_tag → multi-report filenames that coexist without overwriting.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A6472"/>
                </a:solidFill>
                <a:latin typeface="Arial"/>
              </a:rPr>
              <a:t>•  </a:t>
            </a:r>
            <a:r>
              <a:rPr sz="1500" b="0" i="0">
                <a:solidFill>
                  <a:srgbClr val="5A6472"/>
                </a:solidFill>
                <a:latin typeface="Arial"/>
              </a:rPr>
              <a:t>db/version.json sentinel → automatic re-annotation on database upgrade.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86A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E86AB"/>
                </a:solidFill>
                <a:latin typeface="Arial"/>
              </a:rPr>
              <a:t>Key assets reused byte-identical: 8 env YAMLs, multiqc_extras.py, memote_report.py, the BAKTA AMR-guard wrapper, multiqc_config.yaml.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Results — Byte-Identical vs. the Snakemake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82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9FB8D0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6766560" cy="530352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6245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1252B"/>
                </a:solidFill>
                <a:latin typeface="Arial"/>
              </a:rPr>
              <a:t>Trimmomatic (8 .fastq.gz)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280160"/>
            <a:ext cx="4206240" cy="53035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362456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byte-identical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38528"/>
            <a:ext cx="6766560" cy="530352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2082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1252B"/>
                </a:solidFill>
                <a:latin typeface="Arial"/>
              </a:rPr>
              <a:t>SPAdes contigs.fasta (2)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938528"/>
            <a:ext cx="4206240" cy="53035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02082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byte-identical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96896"/>
            <a:ext cx="6766560" cy="530352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9191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1252B"/>
                </a:solidFill>
                <a:latin typeface="Arial"/>
              </a:rPr>
              <a:t>QUAST report.tsv (2)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596896"/>
            <a:ext cx="4206240" cy="53035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67919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byte-identical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55263"/>
            <a:ext cx="6766560" cy="530352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3755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1252B"/>
                </a:solidFill>
                <a:latin typeface="Arial"/>
              </a:rPr>
              <a:t>BUSCO short_summary (2)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255263"/>
            <a:ext cx="4206240" cy="53035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3337559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identical scores — 440/440 complete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13631"/>
            <a:ext cx="6766560" cy="530352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95927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1252B"/>
                </a:solidFill>
                <a:latin typeface="Arial"/>
              </a:rPr>
              <a:t>BAKTA annotation .tsv (2)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913631"/>
            <a:ext cx="4206240" cy="53035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995927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identical line counts — 4,891 / 5,496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71999"/>
            <a:ext cx="6766560" cy="530352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54295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1252B"/>
                </a:solidFill>
                <a:latin typeface="Arial"/>
              </a:rPr>
              <a:t>CarveMe diamond .tsv (2)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4571999"/>
            <a:ext cx="4206240" cy="53035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4654295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identical line counts — 8,961 / 9,306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30367"/>
            <a:ext cx="6766560" cy="530352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12663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1252B"/>
                </a:solidFill>
                <a:latin typeface="Arial"/>
              </a:rPr>
              <a:t>MEMOTE memote_summary.tsv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5230367"/>
            <a:ext cx="4206240" cy="53035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5312663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identical (1 sample) / ∆0.1 (FBA tolerance)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A6472"/>
                </a:solidFill>
                <a:latin typeface="Arial"/>
              </a:rPr>
              <a:t>Deterministic stages reproduce the baseline exactly — proof of a faithful migration, not an approximation.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Biological Accuracy of the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82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9FB8D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•  </a:t>
            </a:r>
            <a:r>
              <a:rPr sz="1500" b="0" i="0">
                <a:solidFill>
                  <a:srgbClr val="2E7D32"/>
                </a:solidFill>
                <a:latin typeface="Arial"/>
              </a:rPr>
              <a:t>BUSCO (enterobacterales_odb10): 100% complete (440/440), 0 missing, 0 fragmented — high-quality assembly.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Assembly metrics are consistent with the known E. coli genomes: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3108960" cy="45720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017520"/>
            <a:ext cx="2651760" cy="45720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310896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Total length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017520"/>
            <a:ext cx="2651760" cy="45720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GC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017520"/>
            <a:ext cx="2651760" cy="45720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310896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N50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3108960" cy="45720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52B"/>
                </a:solidFill>
                <a:latin typeface="Arial"/>
              </a:rPr>
              <a:t>K-12  (SRR1770413)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474720"/>
            <a:ext cx="2651760" cy="45720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356616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52B"/>
                </a:solidFill>
                <a:latin typeface="Arial"/>
              </a:rPr>
              <a:t>4.84 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74720"/>
            <a:ext cx="2651760" cy="45720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52B"/>
                </a:solidFill>
                <a:latin typeface="Arial"/>
              </a:rPr>
              <a:t>50.33 %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474720"/>
            <a:ext cx="2651760" cy="45720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356616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52B"/>
                </a:solidFill>
                <a:latin typeface="Arial"/>
              </a:rPr>
              <a:t>159 kb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31089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2335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52B"/>
                </a:solidFill>
                <a:latin typeface="Arial"/>
              </a:rPr>
              <a:t>O157:H7 (SRR10194530)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931920"/>
            <a:ext cx="26517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4023359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52B"/>
                </a:solidFill>
                <a:latin typeface="Arial"/>
              </a:rPr>
              <a:t>5.40 Mb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931920"/>
            <a:ext cx="26517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023359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52B"/>
                </a:solidFill>
                <a:latin typeface="Arial"/>
              </a:rPr>
              <a:t>50.34 %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3931920"/>
            <a:ext cx="26517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4023359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52B"/>
                </a:solidFill>
                <a:latin typeface="Arial"/>
              </a:rPr>
              <a:t>244 kb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1252B"/>
                </a:solidFill>
                <a:latin typeface="Arial"/>
              </a:rPr>
              <a:t>O157:H7 is correctly larger than K-12 (prophages / O-islands).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1252B"/>
                </a:solidFill>
                <a:latin typeface="Arial"/>
              </a:rPr>
              <a:t>MEMOTE GEM scores: 68.0 (K-12) / 67.7 (O157:H7) — typical of draft genome-scale models.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E86AB"/>
                </a:solidFill>
                <a:latin typeface="Arial"/>
              </a:rPr>
              <a:t>Genome sizes match the sample metadata (species/strain) — no sample mix-ups.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Pitfalls Preserved — Migration Fidelity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82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9FB8D0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QUAST --labels &lt;sample&gt;  — without it every assembly is “contigs” and samples overwrite in MultiQC.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BAKTA AMR-guard wrapper  — upstream ncbi/amr#191: one protein with overlapping NCBIFAM hits aborts annotation; guard retries chunk-wise. Triggered and verified on O157:H7.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CarveMe staged-copy  — carve derives its .tsv from the input path; feeding BAKTA’s .faa would silently overwrite BAKTA’s annotation table. Verified: BAKTA .tsv header intact.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FastQC false-failure guard  — “|| [ -f output.html ]” for macOS non-zero-exit-with-successful-output.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BUSCO / MEMOTE explicit $CONDA_PREFIX/bin/python3  — shebang/PATH resolution traps.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MultiQC cohort = the sample sheet  — explicit per-sample files, never a directory scan (subset reports stay consistent).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Lessons from Nextflow 26.x (strict syntax)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82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9FB8D0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Top-level statements are forbidden when declarations exist → sample-sheet validation moved into workflow.main.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workflow.onComplete {} removed → onComplete: section inside the entry workflow.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publishDir string form cannot resolve input vars → closure path + saveAs to strip the out/ prefix.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Channel.of(list) no longer splats → Channel.fromList; closure variables need .call().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-stub runs real scripts unless a stub: block exists; dry-runs publish empty placeholders.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Runtime params mutation in workflow.main is invisible to process directives (tag/output) → pass computed values as channel inputs.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A6472"/>
                </a:solidFill>
                <a:latin typeface="Arial"/>
              </a:rPr>
              <a:t>•  </a:t>
            </a:r>
            <a:r>
              <a:rPr sz="1500" b="0" i="0">
                <a:solidFill>
                  <a:srgbClr val="5A6472"/>
                </a:solidFill>
                <a:latin typeface="Arial"/>
              </a:rPr>
              <a:t>20 findings (F1–F20) documented and folded back into the design doc.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Usability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82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9FB8D0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onsolas"/>
              </a:rPr>
              <a:t>nextflow run 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    one command; conda environments built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1064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nextflow run . -resume — cached restart / crash recovery.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nextflow run . -profile lowmem — thread override (set-threads analogue).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nextflow run . --report_tag cohortB — coexisting reports per cohort.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CLI --key=value overrides any param; samples.tsv keeps the original format.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Report is presentation-ready: pipeline-ordered sections/columns, full MEMOTE HTML embedded inline.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125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21252B"/>
                </a:solidFill>
                <a:latin typeface="Arial"/>
              </a:rPr>
              <a:t>All data outputs publish to the same directory tree as the Snakemake version.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760720"/>
            <a:ext cx="11064240" cy="731520"/>
          </a:xfrm>
          <a:prstGeom prst="roundRect">
            <a:avLst/>
          </a:prstGeom>
          <a:solidFill>
            <a:srgbClr val="FDF2E4"/>
          </a:solidFill>
          <a:ln w="12700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7044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06A00"/>
                </a:solidFill>
                <a:latin typeface="Arial"/>
              </a:rPr>
              <a:t>Operational note:  keep ≥ 20 GB free disk for SPAdes/BUSCO/Bakta; add a Nextflow README (current gap).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•  </a:t>
            </a:r>
            <a:r>
              <a:rPr sz="1500" b="0" i="0">
                <a:solidFill>
                  <a:srgbClr val="FFFFFF"/>
                </a:solidFill>
                <a:latin typeface="Arial"/>
              </a:rPr>
              <a:t>Full 10-step bacterial WGS + GEM pipeline migrated from Snakemake to Nextflow DSL2.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•  </a:t>
            </a:r>
            <a:r>
              <a:rPr sz="1500" b="0" i="0">
                <a:solidFill>
                  <a:srgbClr val="FFFFFF"/>
                </a:solidFill>
                <a:latin typeface="Arial"/>
              </a:rPr>
              <a:t>Byte-identical outputs on deterministic stages; identical metrics elsewhere.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•  </a:t>
            </a:r>
            <a:r>
              <a:rPr sz="1500" b="0" i="0">
                <a:solidFill>
                  <a:srgbClr val="FFFFFF"/>
                </a:solidFill>
                <a:latin typeface="Arial"/>
              </a:rPr>
              <a:t>Biological validity confirmed (BUSCO 100%, strain-correct assembly sizes, sensible GEM scores).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•  </a:t>
            </a:r>
            <a:r>
              <a:rPr sz="1500" b="0" i="0">
                <a:solidFill>
                  <a:srgbClr val="FFFFFF"/>
                </a:solidFill>
                <a:latin typeface="Arial"/>
              </a:rPr>
              <a:t>All historical pitfalls carried over with verified countermeasures.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•  </a:t>
            </a:r>
            <a:r>
              <a:rPr sz="1500" b="0" i="0">
                <a:solidFill>
                  <a:srgbClr val="FFFFFF"/>
                </a:solidFill>
                <a:latin typeface="Arial"/>
              </a:rPr>
              <a:t>Production-ready entry point with -resume, profiles, and parameter overrides.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FC8DD"/>
                </a:solidFill>
                <a:latin typeface="Arial"/>
              </a:rPr>
              <a:t>Next steps: README, optional Docker/Singularity profile, runtime test of single-sample failure isolation.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